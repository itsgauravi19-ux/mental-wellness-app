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Gotham Bold" charset="1" panose="00000000000000000000"/>
      <p:regular r:id="rId12"/>
    </p:embeddedFont>
    <p:embeddedFont>
      <p:font typeface="Gotham" charset="1" panose="00000000000000000000"/>
      <p:regular r:id="rId13"/>
    </p:embeddedFont>
    <p:embeddedFont>
      <p:font typeface="Canva Sans Bold" charset="1" panose="020B0803030501040103"/>
      <p:regular r:id="rId14"/>
    </p:embeddedFont>
    <p:embeddedFont>
      <p:font typeface="Canva Sans" charset="1" panose="020B0503030501040103"/>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 Id="rId5" Target="../media/image10.jpe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figma.com/proto/SWJo5rfZx8XtpDVe9FjR4y/mental-wellness-app?page-id=20054%3A4105&amp;node-id=24506-525&amp;p=f&amp;viewport=-2842%2C-2006%2C0.58&amp;t=EJr21FYZCu5Ro7Fb-1&amp;scaling=scale-down&amp;content-scaling=fixed&amp;starting-point-node-id=20119%3A9680&amp;show-proto-sidebar=1"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6FF"/>
        </a:solidFill>
      </p:bgPr>
    </p:bg>
    <p:spTree>
      <p:nvGrpSpPr>
        <p:cNvPr id="1" name=""/>
        <p:cNvGrpSpPr/>
        <p:nvPr/>
      </p:nvGrpSpPr>
      <p:grpSpPr>
        <a:xfrm>
          <a:off x="0" y="0"/>
          <a:ext cx="0" cy="0"/>
          <a:chOff x="0" y="0"/>
          <a:chExt cx="0" cy="0"/>
        </a:xfrm>
      </p:grpSpPr>
      <p:grpSp>
        <p:nvGrpSpPr>
          <p:cNvPr name="Group 2" id="2"/>
          <p:cNvGrpSpPr/>
          <p:nvPr/>
        </p:nvGrpSpPr>
        <p:grpSpPr>
          <a:xfrm rot="0">
            <a:off x="-4468512" y="-353712"/>
            <a:ext cx="10994424" cy="1099442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85725" cap="sq">
              <a:solidFill>
                <a:srgbClr val="FD6220"/>
              </a:solidFill>
              <a:prstDash val="solid"/>
              <a:miter/>
            </a:ln>
          </p:spPr>
        </p:sp>
        <p:sp>
          <p:nvSpPr>
            <p:cNvPr name="TextBox 4" id="4"/>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028700" y="9140065"/>
            <a:ext cx="945880" cy="236470"/>
          </a:xfrm>
          <a:custGeom>
            <a:avLst/>
            <a:gdLst/>
            <a:ahLst/>
            <a:cxnLst/>
            <a:rect r="r" b="b" t="t" l="l"/>
            <a:pathLst>
              <a:path h="236470" w="94588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6384897" y="5379918"/>
            <a:ext cx="6059445" cy="605944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name="TextBox 8" id="8"/>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720762" y="6964430"/>
            <a:ext cx="2000810" cy="4114800"/>
          </a:xfrm>
          <a:custGeom>
            <a:avLst/>
            <a:gdLst/>
            <a:ahLst/>
            <a:cxnLst/>
            <a:rect r="r" b="b" t="t" l="l"/>
            <a:pathLst>
              <a:path h="4114800" w="2000810">
                <a:moveTo>
                  <a:pt x="0" y="0"/>
                </a:moveTo>
                <a:lnTo>
                  <a:pt x="2000810" y="0"/>
                </a:lnTo>
                <a:lnTo>
                  <a:pt x="2000810" y="4114800"/>
                </a:lnTo>
                <a:lnTo>
                  <a:pt x="0" y="4114800"/>
                </a:lnTo>
                <a:lnTo>
                  <a:pt x="0" y="0"/>
                </a:lnTo>
                <a:close/>
              </a:path>
            </a:pathLst>
          </a:custGeom>
          <a:blipFill>
            <a:blip r:embed="rId4">
              <a:alphaModFix amt="53000"/>
              <a:extLst>
                <a:ext uri="{96DAC541-7B7A-43D3-8B79-37D633B846F1}">
                  <asvg:svgBlip xmlns:asvg="http://schemas.microsoft.com/office/drawing/2016/SVG/main" r:embed="rId5"/>
                </a:ext>
              </a:extLst>
            </a:blip>
            <a:stretch>
              <a:fillRect l="0" t="0" r="-204881" b="0"/>
            </a:stretch>
          </a:blipFill>
        </p:spPr>
      </p:sp>
      <p:grpSp>
        <p:nvGrpSpPr>
          <p:cNvPr name="Group 10" id="10"/>
          <p:cNvGrpSpPr/>
          <p:nvPr/>
        </p:nvGrpSpPr>
        <p:grpSpPr>
          <a:xfrm rot="0">
            <a:off x="11762088" y="-9632634"/>
            <a:ext cx="10994424" cy="1099442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12" id="12"/>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3373132" y="4114076"/>
            <a:ext cx="12198237" cy="2291464"/>
            <a:chOff x="0" y="0"/>
            <a:chExt cx="3212705" cy="603513"/>
          </a:xfrm>
        </p:grpSpPr>
        <p:sp>
          <p:nvSpPr>
            <p:cNvPr name="Freeform 14" id="14"/>
            <p:cNvSpPr/>
            <p:nvPr/>
          </p:nvSpPr>
          <p:spPr>
            <a:xfrm flipH="false" flipV="false" rot="0">
              <a:off x="0" y="0"/>
              <a:ext cx="3212704" cy="603513"/>
            </a:xfrm>
            <a:custGeom>
              <a:avLst/>
              <a:gdLst/>
              <a:ahLst/>
              <a:cxnLst/>
              <a:rect r="r" b="b" t="t" l="l"/>
              <a:pathLst>
                <a:path h="603513" w="3212704">
                  <a:moveTo>
                    <a:pt x="0" y="0"/>
                  </a:moveTo>
                  <a:lnTo>
                    <a:pt x="3212704" y="0"/>
                  </a:lnTo>
                  <a:lnTo>
                    <a:pt x="3212704" y="603513"/>
                  </a:lnTo>
                  <a:lnTo>
                    <a:pt x="0" y="603513"/>
                  </a:lnTo>
                  <a:close/>
                </a:path>
              </a:pathLst>
            </a:custGeom>
            <a:solidFill>
              <a:srgbClr val="F5F6FF"/>
            </a:solidFill>
          </p:spPr>
        </p:sp>
        <p:sp>
          <p:nvSpPr>
            <p:cNvPr name="TextBox 15" id="15"/>
            <p:cNvSpPr txBox="true"/>
            <p:nvPr/>
          </p:nvSpPr>
          <p:spPr>
            <a:xfrm>
              <a:off x="0" y="-28575"/>
              <a:ext cx="3212705" cy="632088"/>
            </a:xfrm>
            <a:prstGeom prst="rect">
              <a:avLst/>
            </a:prstGeom>
          </p:spPr>
          <p:txBody>
            <a:bodyPr anchor="ctr" rtlCol="false" tIns="50800" lIns="50800" bIns="50800" rIns="50800"/>
            <a:lstStyle/>
            <a:p>
              <a:pPr algn="ctr">
                <a:lnSpc>
                  <a:spcPts val="2380"/>
                </a:lnSpc>
              </a:pPr>
            </a:p>
          </p:txBody>
        </p:sp>
      </p:grpSp>
      <p:sp>
        <p:nvSpPr>
          <p:cNvPr name="TextBox 16" id="16"/>
          <p:cNvSpPr txBox="true"/>
          <p:nvPr/>
        </p:nvSpPr>
        <p:spPr>
          <a:xfrm rot="0">
            <a:off x="1661139" y="4342104"/>
            <a:ext cx="14723759" cy="1866079"/>
          </a:xfrm>
          <a:prstGeom prst="rect">
            <a:avLst/>
          </a:prstGeom>
        </p:spPr>
        <p:txBody>
          <a:bodyPr anchor="t" rtlCol="false" tIns="0" lIns="0" bIns="0" rIns="0">
            <a:spAutoFit/>
          </a:bodyPr>
          <a:lstStyle/>
          <a:p>
            <a:pPr algn="ctr">
              <a:lnSpc>
                <a:spcPts val="15270"/>
              </a:lnSpc>
              <a:spcBef>
                <a:spcPct val="0"/>
              </a:spcBef>
            </a:pPr>
            <a:r>
              <a:rPr lang="en-US" b="true" sz="10907" spc="1527">
                <a:solidFill>
                  <a:srgbClr val="191919"/>
                </a:solidFill>
                <a:latin typeface="Gotham Bold"/>
                <a:ea typeface="Gotham Bold"/>
                <a:cs typeface="Gotham Bold"/>
                <a:sym typeface="Gotham Bold"/>
              </a:rPr>
              <a:t>PRESENTATION</a:t>
            </a:r>
          </a:p>
        </p:txBody>
      </p:sp>
      <p:grpSp>
        <p:nvGrpSpPr>
          <p:cNvPr name="Group 17" id="17"/>
          <p:cNvGrpSpPr/>
          <p:nvPr/>
        </p:nvGrpSpPr>
        <p:grpSpPr>
          <a:xfrm rot="0">
            <a:off x="-9965724" y="-1383136"/>
            <a:ext cx="10994424" cy="1099442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14350" cap="sq">
              <a:solidFill>
                <a:srgbClr val="FD6220">
                  <a:alpha val="11765"/>
                </a:srgbClr>
              </a:solidFill>
              <a:prstDash val="solid"/>
              <a:miter/>
            </a:ln>
          </p:spPr>
        </p:sp>
        <p:sp>
          <p:nvSpPr>
            <p:cNvPr name="TextBox 19" id="19"/>
            <p:cNvSpPr txBox="true"/>
            <p:nvPr/>
          </p:nvSpPr>
          <p:spPr>
            <a:xfrm>
              <a:off x="76200" y="47625"/>
              <a:ext cx="660400" cy="688975"/>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6FF"/>
        </a:solidFill>
      </p:bgPr>
    </p:bg>
    <p:spTree>
      <p:nvGrpSpPr>
        <p:cNvPr id="1" name=""/>
        <p:cNvGrpSpPr/>
        <p:nvPr/>
      </p:nvGrpSpPr>
      <p:grpSpPr>
        <a:xfrm>
          <a:off x="0" y="0"/>
          <a:ext cx="0" cy="0"/>
          <a:chOff x="0" y="0"/>
          <a:chExt cx="0" cy="0"/>
        </a:xfrm>
      </p:grpSpPr>
      <p:sp>
        <p:nvSpPr>
          <p:cNvPr name="Freeform 2" id="2"/>
          <p:cNvSpPr/>
          <p:nvPr/>
        </p:nvSpPr>
        <p:spPr>
          <a:xfrm flipH="true" flipV="false" rot="0">
            <a:off x="12926963" y="4442180"/>
            <a:ext cx="5592777" cy="5592777"/>
          </a:xfrm>
          <a:custGeom>
            <a:avLst/>
            <a:gdLst/>
            <a:ahLst/>
            <a:cxnLst/>
            <a:rect r="r" b="b" t="t" l="l"/>
            <a:pathLst>
              <a:path h="5592777" w="5592777">
                <a:moveTo>
                  <a:pt x="5592777" y="0"/>
                </a:moveTo>
                <a:lnTo>
                  <a:pt x="0" y="0"/>
                </a:lnTo>
                <a:lnTo>
                  <a:pt x="0" y="5592777"/>
                </a:lnTo>
                <a:lnTo>
                  <a:pt x="5592777" y="5592777"/>
                </a:lnTo>
                <a:lnTo>
                  <a:pt x="5592777" y="0"/>
                </a:lnTo>
                <a:close/>
              </a:path>
            </a:pathLst>
          </a:custGeom>
          <a:blipFill>
            <a:blip r:embed="rId2"/>
            <a:stretch>
              <a:fillRect l="0" t="0" r="0" b="0"/>
            </a:stretch>
          </a:blipFill>
        </p:spPr>
      </p:sp>
      <p:sp>
        <p:nvSpPr>
          <p:cNvPr name="TextBox 3" id="3"/>
          <p:cNvSpPr txBox="true"/>
          <p:nvPr/>
        </p:nvSpPr>
        <p:spPr>
          <a:xfrm rot="0">
            <a:off x="1772358" y="2469495"/>
            <a:ext cx="11670337" cy="1323340"/>
          </a:xfrm>
          <a:prstGeom prst="rect">
            <a:avLst/>
          </a:prstGeom>
        </p:spPr>
        <p:txBody>
          <a:bodyPr anchor="t" rtlCol="false" tIns="0" lIns="0" bIns="0" rIns="0">
            <a:spAutoFit/>
          </a:bodyPr>
          <a:lstStyle/>
          <a:p>
            <a:pPr algn="just">
              <a:lnSpc>
                <a:spcPts val="2659"/>
              </a:lnSpc>
              <a:spcBef>
                <a:spcPct val="0"/>
              </a:spcBef>
            </a:pPr>
            <a:r>
              <a:rPr lang="en-US" sz="1899">
                <a:solidFill>
                  <a:srgbClr val="000000"/>
                </a:solidFill>
                <a:latin typeface="Gotham"/>
                <a:ea typeface="Gotham"/>
                <a:cs typeface="Gotham"/>
                <a:sym typeface="Gotham"/>
              </a:rPr>
              <a:t>Students and working professionals experience frequent stress, anxiety, and overthinking but lack simple tools to track their emotions or receive guided support. Existing solutions are either complex, inconsistent, or not personalized. Users need an accessible way to understand their mood patterns and improve daily mental wellness</a:t>
            </a:r>
          </a:p>
        </p:txBody>
      </p:sp>
      <p:sp>
        <p:nvSpPr>
          <p:cNvPr name="TextBox 4" id="4"/>
          <p:cNvSpPr txBox="true"/>
          <p:nvPr/>
        </p:nvSpPr>
        <p:spPr>
          <a:xfrm rot="0">
            <a:off x="1772358" y="6391161"/>
            <a:ext cx="11670337" cy="1656715"/>
          </a:xfrm>
          <a:prstGeom prst="rect">
            <a:avLst/>
          </a:prstGeom>
        </p:spPr>
        <p:txBody>
          <a:bodyPr anchor="t" rtlCol="false" tIns="0" lIns="0" bIns="0" rIns="0">
            <a:spAutoFit/>
          </a:bodyPr>
          <a:lstStyle/>
          <a:p>
            <a:pPr algn="just">
              <a:lnSpc>
                <a:spcPts val="2659"/>
              </a:lnSpc>
              <a:spcBef>
                <a:spcPct val="0"/>
              </a:spcBef>
            </a:pPr>
            <a:r>
              <a:rPr lang="en-US" sz="1899">
                <a:solidFill>
                  <a:srgbClr val="000000"/>
                </a:solidFill>
                <a:latin typeface="Gotham"/>
                <a:ea typeface="Gotham"/>
                <a:cs typeface="Gotham"/>
                <a:sym typeface="Gotham"/>
              </a:rPr>
              <a:t>Conducted Google Form survey with s</a:t>
            </a:r>
            <a:r>
              <a:rPr lang="en-US" sz="1899">
                <a:solidFill>
                  <a:srgbClr val="000000"/>
                </a:solidFill>
                <a:latin typeface="Gotham"/>
                <a:ea typeface="Gotham"/>
                <a:cs typeface="Gotham"/>
                <a:sym typeface="Gotham"/>
              </a:rPr>
              <a:t>tudents and professionals</a:t>
            </a:r>
          </a:p>
          <a:p>
            <a:pPr algn="just">
              <a:lnSpc>
                <a:spcPts val="2659"/>
              </a:lnSpc>
              <a:spcBef>
                <a:spcPct val="0"/>
              </a:spcBef>
            </a:pPr>
            <a:r>
              <a:rPr lang="en-US" sz="1899">
                <a:solidFill>
                  <a:srgbClr val="000000"/>
                </a:solidFill>
                <a:latin typeface="Gotham"/>
                <a:ea typeface="Gotham"/>
                <a:cs typeface="Gotham"/>
                <a:sym typeface="Gotham"/>
              </a:rPr>
              <a:t> – Key pain points: workload pressure, inconsistent routines, overthinking, lack of reflection time</a:t>
            </a:r>
          </a:p>
          <a:p>
            <a:pPr algn="just">
              <a:lnSpc>
                <a:spcPts val="2659"/>
              </a:lnSpc>
              <a:spcBef>
                <a:spcPct val="0"/>
              </a:spcBef>
            </a:pPr>
            <a:r>
              <a:rPr lang="en-US" sz="1899">
                <a:solidFill>
                  <a:srgbClr val="000000"/>
                </a:solidFill>
                <a:latin typeface="Gotham"/>
                <a:ea typeface="Gotham"/>
                <a:cs typeface="Gotham"/>
                <a:sym typeface="Gotham"/>
              </a:rPr>
              <a:t> – Users prefer quick logging, simple UI, and minimal effort</a:t>
            </a:r>
          </a:p>
          <a:p>
            <a:pPr algn="just">
              <a:lnSpc>
                <a:spcPts val="2659"/>
              </a:lnSpc>
              <a:spcBef>
                <a:spcPct val="0"/>
              </a:spcBef>
            </a:pPr>
            <a:r>
              <a:rPr lang="en-US" sz="1899">
                <a:solidFill>
                  <a:srgbClr val="000000"/>
                </a:solidFill>
                <a:latin typeface="Gotham"/>
                <a:ea typeface="Gotham"/>
                <a:cs typeface="Gotham"/>
                <a:sym typeface="Gotham"/>
              </a:rPr>
              <a:t> – High interest in mood tracking, journaling, and AI-based guidance</a:t>
            </a:r>
          </a:p>
          <a:p>
            <a:pPr algn="just">
              <a:lnSpc>
                <a:spcPts val="2659"/>
              </a:lnSpc>
              <a:spcBef>
                <a:spcPct val="0"/>
              </a:spcBef>
            </a:pPr>
            <a:r>
              <a:rPr lang="en-US" sz="1899">
                <a:solidFill>
                  <a:srgbClr val="000000"/>
                </a:solidFill>
                <a:latin typeface="Gotham"/>
                <a:ea typeface="Gotham"/>
                <a:cs typeface="Gotham"/>
                <a:sym typeface="Gotham"/>
              </a:rPr>
              <a:t> – Privacy and ease of use are critical for engagement</a:t>
            </a:r>
          </a:p>
        </p:txBody>
      </p:sp>
      <p:sp>
        <p:nvSpPr>
          <p:cNvPr name="TextBox 5" id="5"/>
          <p:cNvSpPr txBox="true"/>
          <p:nvPr/>
        </p:nvSpPr>
        <p:spPr>
          <a:xfrm rot="0">
            <a:off x="1772358" y="5048250"/>
            <a:ext cx="6202958"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Rese</a:t>
            </a:r>
            <a:r>
              <a:rPr lang="en-US" b="true" sz="5199">
                <a:solidFill>
                  <a:srgbClr val="000000"/>
                </a:solidFill>
                <a:latin typeface="Canva Sans Bold"/>
                <a:ea typeface="Canva Sans Bold"/>
                <a:cs typeface="Canva Sans Bold"/>
                <a:sym typeface="Canva Sans Bold"/>
              </a:rPr>
              <a:t>arch Summary</a:t>
            </a:r>
          </a:p>
        </p:txBody>
      </p:sp>
      <p:sp>
        <p:nvSpPr>
          <p:cNvPr name="TextBox 6" id="6"/>
          <p:cNvSpPr txBox="true"/>
          <p:nvPr/>
        </p:nvSpPr>
        <p:spPr>
          <a:xfrm rot="0">
            <a:off x="1772358" y="1425886"/>
            <a:ext cx="2736552"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Problem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6FF"/>
        </a:solidFill>
      </p:bgPr>
    </p:bg>
    <p:spTree>
      <p:nvGrpSpPr>
        <p:cNvPr id="1" name=""/>
        <p:cNvGrpSpPr/>
        <p:nvPr/>
      </p:nvGrpSpPr>
      <p:grpSpPr>
        <a:xfrm>
          <a:off x="0" y="0"/>
          <a:ext cx="0" cy="0"/>
          <a:chOff x="0" y="0"/>
          <a:chExt cx="0" cy="0"/>
        </a:xfrm>
      </p:grpSpPr>
      <p:sp>
        <p:nvSpPr>
          <p:cNvPr name="Freeform 2" id="2"/>
          <p:cNvSpPr/>
          <p:nvPr/>
        </p:nvSpPr>
        <p:spPr>
          <a:xfrm flipH="false" flipV="false" rot="0">
            <a:off x="11483452" y="2149440"/>
            <a:ext cx="7710963" cy="7710963"/>
          </a:xfrm>
          <a:custGeom>
            <a:avLst/>
            <a:gdLst/>
            <a:ahLst/>
            <a:cxnLst/>
            <a:rect r="r" b="b" t="t" l="l"/>
            <a:pathLst>
              <a:path h="7710963" w="7710963">
                <a:moveTo>
                  <a:pt x="0" y="0"/>
                </a:moveTo>
                <a:lnTo>
                  <a:pt x="7710962" y="0"/>
                </a:lnTo>
                <a:lnTo>
                  <a:pt x="7710962" y="7710963"/>
                </a:lnTo>
                <a:lnTo>
                  <a:pt x="0" y="7710963"/>
                </a:lnTo>
                <a:lnTo>
                  <a:pt x="0" y="0"/>
                </a:lnTo>
                <a:close/>
              </a:path>
            </a:pathLst>
          </a:custGeom>
          <a:blipFill>
            <a:blip r:embed="rId2"/>
            <a:stretch>
              <a:fillRect l="0" t="0" r="0" b="0"/>
            </a:stretch>
          </a:blipFill>
        </p:spPr>
      </p:sp>
      <p:sp>
        <p:nvSpPr>
          <p:cNvPr name="TextBox 3" id="3"/>
          <p:cNvSpPr txBox="true"/>
          <p:nvPr/>
        </p:nvSpPr>
        <p:spPr>
          <a:xfrm rot="0">
            <a:off x="1988346" y="1886675"/>
            <a:ext cx="5927626" cy="887095"/>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Solution</a:t>
            </a:r>
            <a:r>
              <a:rPr lang="en-US" b="true" sz="5199">
                <a:solidFill>
                  <a:srgbClr val="000000"/>
                </a:solidFill>
                <a:latin typeface="Canva Sans Bold"/>
                <a:ea typeface="Canva Sans Bold"/>
                <a:cs typeface="Canva Sans Bold"/>
                <a:sym typeface="Canva Sans Bold"/>
              </a:rPr>
              <a:t> Overview</a:t>
            </a:r>
          </a:p>
        </p:txBody>
      </p:sp>
      <p:sp>
        <p:nvSpPr>
          <p:cNvPr name="TextBox 4" id="4"/>
          <p:cNvSpPr txBox="true"/>
          <p:nvPr/>
        </p:nvSpPr>
        <p:spPr>
          <a:xfrm rot="0">
            <a:off x="1988346" y="3407967"/>
            <a:ext cx="10552137" cy="2596954"/>
          </a:xfrm>
          <a:prstGeom prst="rect">
            <a:avLst/>
          </a:prstGeom>
        </p:spPr>
        <p:txBody>
          <a:bodyPr anchor="t" rtlCol="false" tIns="0" lIns="0" bIns="0" rIns="0">
            <a:spAutoFit/>
          </a:bodyPr>
          <a:lstStyle/>
          <a:p>
            <a:pPr algn="just">
              <a:lnSpc>
                <a:spcPts val="3461"/>
              </a:lnSpc>
              <a:spcBef>
                <a:spcPct val="0"/>
              </a:spcBef>
            </a:pPr>
            <a:r>
              <a:rPr lang="en-US" sz="2472">
                <a:solidFill>
                  <a:srgbClr val="000000"/>
                </a:solidFill>
                <a:latin typeface="Gotham"/>
                <a:ea typeface="Gotham"/>
                <a:cs typeface="Gotham"/>
                <a:sym typeface="Gotham"/>
              </a:rPr>
              <a:t>A minimal, calming mental wellness mobile app that allows users to:</a:t>
            </a:r>
          </a:p>
          <a:p>
            <a:pPr algn="just">
              <a:lnSpc>
                <a:spcPts val="3461"/>
              </a:lnSpc>
              <a:spcBef>
                <a:spcPct val="0"/>
              </a:spcBef>
            </a:pPr>
            <a:r>
              <a:rPr lang="en-US" sz="2472">
                <a:solidFill>
                  <a:srgbClr val="000000"/>
                </a:solidFill>
                <a:latin typeface="Gotham"/>
                <a:ea typeface="Gotham"/>
                <a:cs typeface="Gotham"/>
                <a:sym typeface="Gotham"/>
              </a:rPr>
              <a:t> – Track moods through simple inputs</a:t>
            </a:r>
          </a:p>
          <a:p>
            <a:pPr algn="just">
              <a:lnSpc>
                <a:spcPts val="3461"/>
              </a:lnSpc>
              <a:spcBef>
                <a:spcPct val="0"/>
              </a:spcBef>
            </a:pPr>
            <a:r>
              <a:rPr lang="en-US" sz="2472">
                <a:solidFill>
                  <a:srgbClr val="000000"/>
                </a:solidFill>
                <a:latin typeface="Gotham"/>
                <a:ea typeface="Gotham"/>
                <a:cs typeface="Gotham"/>
                <a:sym typeface="Gotham"/>
              </a:rPr>
              <a:t> – Receive personalized AI-based suggestions</a:t>
            </a:r>
          </a:p>
          <a:p>
            <a:pPr algn="just">
              <a:lnSpc>
                <a:spcPts val="3461"/>
              </a:lnSpc>
              <a:spcBef>
                <a:spcPct val="0"/>
              </a:spcBef>
            </a:pPr>
            <a:r>
              <a:rPr lang="en-US" sz="2472">
                <a:solidFill>
                  <a:srgbClr val="000000"/>
                </a:solidFill>
                <a:latin typeface="Gotham"/>
                <a:ea typeface="Gotham"/>
                <a:cs typeface="Gotham"/>
                <a:sym typeface="Gotham"/>
              </a:rPr>
              <a:t> – Journal their thoughts</a:t>
            </a:r>
          </a:p>
          <a:p>
            <a:pPr algn="just">
              <a:lnSpc>
                <a:spcPts val="3461"/>
              </a:lnSpc>
              <a:spcBef>
                <a:spcPct val="0"/>
              </a:spcBef>
            </a:pPr>
            <a:r>
              <a:rPr lang="en-US" sz="2472">
                <a:solidFill>
                  <a:srgbClr val="000000"/>
                </a:solidFill>
                <a:latin typeface="Gotham"/>
                <a:ea typeface="Gotham"/>
                <a:cs typeface="Gotham"/>
                <a:sym typeface="Gotham"/>
              </a:rPr>
              <a:t> – View mood patterns through clear visual insights</a:t>
            </a:r>
          </a:p>
          <a:p>
            <a:pPr algn="just">
              <a:lnSpc>
                <a:spcPts val="3461"/>
              </a:lnSpc>
              <a:spcBef>
                <a:spcPct val="0"/>
              </a:spcBef>
            </a:pPr>
            <a:r>
              <a:rPr lang="en-US" sz="2472">
                <a:solidFill>
                  <a:srgbClr val="000000"/>
                </a:solidFill>
                <a:latin typeface="Gotham"/>
                <a:ea typeface="Gotham"/>
                <a:cs typeface="Gotham"/>
                <a:sym typeface="Gotham"/>
              </a:rPr>
              <a:t> – Build consistent wellness habits with reminders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6FF"/>
        </a:solidFill>
      </p:bgPr>
    </p:bg>
    <p:spTree>
      <p:nvGrpSpPr>
        <p:cNvPr id="1" name=""/>
        <p:cNvGrpSpPr/>
        <p:nvPr/>
      </p:nvGrpSpPr>
      <p:grpSpPr>
        <a:xfrm>
          <a:off x="0" y="0"/>
          <a:ext cx="0" cy="0"/>
          <a:chOff x="0" y="0"/>
          <a:chExt cx="0" cy="0"/>
        </a:xfrm>
      </p:grpSpPr>
      <p:sp>
        <p:nvSpPr>
          <p:cNvPr name="Freeform 2" id="2"/>
          <p:cNvSpPr/>
          <p:nvPr/>
        </p:nvSpPr>
        <p:spPr>
          <a:xfrm flipH="false" flipV="false" rot="0">
            <a:off x="6152996" y="2028802"/>
            <a:ext cx="2402504" cy="5199266"/>
          </a:xfrm>
          <a:custGeom>
            <a:avLst/>
            <a:gdLst/>
            <a:ahLst/>
            <a:cxnLst/>
            <a:rect r="r" b="b" t="t" l="l"/>
            <a:pathLst>
              <a:path h="5199266" w="2402504">
                <a:moveTo>
                  <a:pt x="0" y="0"/>
                </a:moveTo>
                <a:lnTo>
                  <a:pt x="2402504" y="0"/>
                </a:lnTo>
                <a:lnTo>
                  <a:pt x="2402504" y="5199266"/>
                </a:lnTo>
                <a:lnTo>
                  <a:pt x="0" y="5199266"/>
                </a:lnTo>
                <a:lnTo>
                  <a:pt x="0" y="0"/>
                </a:lnTo>
                <a:close/>
              </a:path>
            </a:pathLst>
          </a:custGeom>
          <a:blipFill>
            <a:blip r:embed="rId2"/>
            <a:stretch>
              <a:fillRect l="0" t="0" r="0" b="0"/>
            </a:stretch>
          </a:blipFill>
        </p:spPr>
      </p:sp>
      <p:sp>
        <p:nvSpPr>
          <p:cNvPr name="Freeform 3" id="3"/>
          <p:cNvSpPr/>
          <p:nvPr/>
        </p:nvSpPr>
        <p:spPr>
          <a:xfrm flipH="false" flipV="false" rot="0">
            <a:off x="3506166" y="2028802"/>
            <a:ext cx="2418230" cy="5207168"/>
          </a:xfrm>
          <a:custGeom>
            <a:avLst/>
            <a:gdLst/>
            <a:ahLst/>
            <a:cxnLst/>
            <a:rect r="r" b="b" t="t" l="l"/>
            <a:pathLst>
              <a:path h="5207168" w="2418230">
                <a:moveTo>
                  <a:pt x="0" y="0"/>
                </a:moveTo>
                <a:lnTo>
                  <a:pt x="2418230" y="0"/>
                </a:lnTo>
                <a:lnTo>
                  <a:pt x="2418230" y="5207168"/>
                </a:lnTo>
                <a:lnTo>
                  <a:pt x="0" y="5207168"/>
                </a:lnTo>
                <a:lnTo>
                  <a:pt x="0" y="0"/>
                </a:lnTo>
                <a:close/>
              </a:path>
            </a:pathLst>
          </a:custGeom>
          <a:blipFill>
            <a:blip r:embed="rId3"/>
            <a:stretch>
              <a:fillRect l="0" t="-250" r="0" b="-250"/>
            </a:stretch>
          </a:blipFill>
        </p:spPr>
      </p:sp>
      <p:sp>
        <p:nvSpPr>
          <p:cNvPr name="Freeform 4" id="4"/>
          <p:cNvSpPr/>
          <p:nvPr/>
        </p:nvSpPr>
        <p:spPr>
          <a:xfrm flipH="false" flipV="false" rot="0">
            <a:off x="8786247" y="1927358"/>
            <a:ext cx="2449380" cy="5300709"/>
          </a:xfrm>
          <a:custGeom>
            <a:avLst/>
            <a:gdLst/>
            <a:ahLst/>
            <a:cxnLst/>
            <a:rect r="r" b="b" t="t" l="l"/>
            <a:pathLst>
              <a:path h="5300709" w="2449380">
                <a:moveTo>
                  <a:pt x="0" y="0"/>
                </a:moveTo>
                <a:lnTo>
                  <a:pt x="2449380" y="0"/>
                </a:lnTo>
                <a:lnTo>
                  <a:pt x="2449380" y="5300710"/>
                </a:lnTo>
                <a:lnTo>
                  <a:pt x="0" y="5300710"/>
                </a:lnTo>
                <a:lnTo>
                  <a:pt x="0" y="0"/>
                </a:lnTo>
                <a:close/>
              </a:path>
            </a:pathLst>
          </a:custGeom>
          <a:blipFill>
            <a:blip r:embed="rId4"/>
            <a:stretch>
              <a:fillRect l="0" t="0" r="0" b="0"/>
            </a:stretch>
          </a:blipFill>
        </p:spPr>
      </p:sp>
      <p:sp>
        <p:nvSpPr>
          <p:cNvPr name="Freeform 5" id="5"/>
          <p:cNvSpPr/>
          <p:nvPr/>
        </p:nvSpPr>
        <p:spPr>
          <a:xfrm flipH="false" flipV="false" rot="0">
            <a:off x="14974686" y="1563758"/>
            <a:ext cx="2019235" cy="7160516"/>
          </a:xfrm>
          <a:custGeom>
            <a:avLst/>
            <a:gdLst/>
            <a:ahLst/>
            <a:cxnLst/>
            <a:rect r="r" b="b" t="t" l="l"/>
            <a:pathLst>
              <a:path h="7160516" w="2019235">
                <a:moveTo>
                  <a:pt x="0" y="0"/>
                </a:moveTo>
                <a:lnTo>
                  <a:pt x="2019234" y="0"/>
                </a:lnTo>
                <a:lnTo>
                  <a:pt x="2019234" y="7160516"/>
                </a:lnTo>
                <a:lnTo>
                  <a:pt x="0" y="7160516"/>
                </a:lnTo>
                <a:lnTo>
                  <a:pt x="0" y="0"/>
                </a:lnTo>
                <a:close/>
              </a:path>
            </a:pathLst>
          </a:custGeom>
          <a:blipFill>
            <a:blip r:embed="rId5"/>
            <a:stretch>
              <a:fillRect l="0" t="0" r="0" b="0"/>
            </a:stretch>
          </a:blipFill>
        </p:spPr>
      </p:sp>
      <p:sp>
        <p:nvSpPr>
          <p:cNvPr name="Freeform 6" id="6"/>
          <p:cNvSpPr/>
          <p:nvPr/>
        </p:nvSpPr>
        <p:spPr>
          <a:xfrm flipH="false" flipV="false" rot="0">
            <a:off x="11792231" y="1563758"/>
            <a:ext cx="2020404" cy="7159484"/>
          </a:xfrm>
          <a:custGeom>
            <a:avLst/>
            <a:gdLst/>
            <a:ahLst/>
            <a:cxnLst/>
            <a:rect r="r" b="b" t="t" l="l"/>
            <a:pathLst>
              <a:path h="7159484" w="2020404">
                <a:moveTo>
                  <a:pt x="0" y="0"/>
                </a:moveTo>
                <a:lnTo>
                  <a:pt x="2020405" y="0"/>
                </a:lnTo>
                <a:lnTo>
                  <a:pt x="2020405" y="7159484"/>
                </a:lnTo>
                <a:lnTo>
                  <a:pt x="0" y="7159484"/>
                </a:lnTo>
                <a:lnTo>
                  <a:pt x="0" y="0"/>
                </a:lnTo>
                <a:close/>
              </a:path>
            </a:pathLst>
          </a:custGeom>
          <a:blipFill>
            <a:blip r:embed="rId6"/>
            <a:stretch>
              <a:fillRect l="0" t="0" r="0" b="0"/>
            </a:stretch>
          </a:blipFill>
        </p:spPr>
      </p:sp>
      <p:sp>
        <p:nvSpPr>
          <p:cNvPr name="Freeform 7" id="7"/>
          <p:cNvSpPr/>
          <p:nvPr/>
        </p:nvSpPr>
        <p:spPr>
          <a:xfrm flipH="false" flipV="false" rot="0">
            <a:off x="641311" y="2075573"/>
            <a:ext cx="2384544" cy="5160398"/>
          </a:xfrm>
          <a:custGeom>
            <a:avLst/>
            <a:gdLst/>
            <a:ahLst/>
            <a:cxnLst/>
            <a:rect r="r" b="b" t="t" l="l"/>
            <a:pathLst>
              <a:path h="5160398" w="2384544">
                <a:moveTo>
                  <a:pt x="0" y="0"/>
                </a:moveTo>
                <a:lnTo>
                  <a:pt x="2384544" y="0"/>
                </a:lnTo>
                <a:lnTo>
                  <a:pt x="2384544" y="5160397"/>
                </a:lnTo>
                <a:lnTo>
                  <a:pt x="0" y="5160397"/>
                </a:lnTo>
                <a:lnTo>
                  <a:pt x="0" y="0"/>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6FF"/>
        </a:solidFill>
      </p:bgPr>
    </p:bg>
    <p:spTree>
      <p:nvGrpSpPr>
        <p:cNvPr id="1" name=""/>
        <p:cNvGrpSpPr/>
        <p:nvPr/>
      </p:nvGrpSpPr>
      <p:grpSpPr>
        <a:xfrm>
          <a:off x="0" y="0"/>
          <a:ext cx="0" cy="0"/>
          <a:chOff x="0" y="0"/>
          <a:chExt cx="0" cy="0"/>
        </a:xfrm>
      </p:grpSpPr>
      <p:grpSp>
        <p:nvGrpSpPr>
          <p:cNvPr name="Group 2" id="2"/>
          <p:cNvGrpSpPr/>
          <p:nvPr/>
        </p:nvGrpSpPr>
        <p:grpSpPr>
          <a:xfrm rot="0">
            <a:off x="7491443" y="4395499"/>
            <a:ext cx="893330" cy="89333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8C52FF"/>
            </a:solidFill>
          </p:spPr>
        </p:sp>
        <p:sp>
          <p:nvSpPr>
            <p:cNvPr name="TextBox 4" id="4"/>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sp>
        <p:nvSpPr>
          <p:cNvPr name="TextBox 5" id="5"/>
          <p:cNvSpPr txBox="true"/>
          <p:nvPr/>
        </p:nvSpPr>
        <p:spPr>
          <a:xfrm rot="0">
            <a:off x="1885624" y="4371632"/>
            <a:ext cx="4359283" cy="626540"/>
          </a:xfrm>
          <a:prstGeom prst="rect">
            <a:avLst/>
          </a:prstGeom>
        </p:spPr>
        <p:txBody>
          <a:bodyPr anchor="t" rtlCol="false" tIns="0" lIns="0" bIns="0" rIns="0">
            <a:spAutoFit/>
          </a:bodyPr>
          <a:lstStyle/>
          <a:p>
            <a:pPr algn="ctr">
              <a:lnSpc>
                <a:spcPts val="5147"/>
              </a:lnSpc>
            </a:pPr>
            <a:r>
              <a:rPr lang="en-US" sz="3676" b="true">
                <a:solidFill>
                  <a:srgbClr val="000000"/>
                </a:solidFill>
                <a:latin typeface="Canva Sans Bold"/>
                <a:ea typeface="Canva Sans Bold"/>
                <a:cs typeface="Canva Sans Bold"/>
                <a:sym typeface="Canva Sans Bold"/>
              </a:rPr>
              <a:t>Demo of prototype</a:t>
            </a:r>
          </a:p>
        </p:txBody>
      </p:sp>
      <p:sp>
        <p:nvSpPr>
          <p:cNvPr name="TextBox 6" id="6"/>
          <p:cNvSpPr txBox="true"/>
          <p:nvPr/>
        </p:nvSpPr>
        <p:spPr>
          <a:xfrm rot="0">
            <a:off x="9735642" y="4238391"/>
            <a:ext cx="5421314" cy="1050438"/>
          </a:xfrm>
          <a:prstGeom prst="rect">
            <a:avLst/>
          </a:prstGeom>
        </p:spPr>
        <p:txBody>
          <a:bodyPr anchor="t" rtlCol="false" tIns="0" lIns="0" bIns="0" rIns="0">
            <a:spAutoFit/>
          </a:bodyPr>
          <a:lstStyle/>
          <a:p>
            <a:pPr algn="ctr">
              <a:lnSpc>
                <a:spcPts val="8606"/>
              </a:lnSpc>
            </a:pPr>
            <a:r>
              <a:rPr lang="en-US" b="true" sz="6147" u="sng">
                <a:solidFill>
                  <a:srgbClr val="000000"/>
                </a:solidFill>
                <a:latin typeface="Canva Sans Bold"/>
                <a:ea typeface="Canva Sans Bold"/>
                <a:cs typeface="Canva Sans Bold"/>
                <a:sym typeface="Canva Sans Bold"/>
                <a:hlinkClick r:id="rId2" tooltip="https://www.figma.com/proto/SWJo5rfZx8XtpDVe9FjR4y/mental-wellness-app?page-id=20054%3A4105&amp;node-id=24506-525&amp;p=f&amp;viewport=-2842%2C-2006%2C0.58&amp;t=EJr21FYZCu5Ro7Fb-1&amp;scaling=scale-down&amp;content-scaling=fixed&amp;starting-point-node-id=20119%3A9680&amp;show-proto-sidebar=1"/>
              </a:rPr>
              <a:t>Prototype link</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5F6FF"/>
        </a:solidFill>
      </p:bgPr>
    </p:bg>
    <p:spTree>
      <p:nvGrpSpPr>
        <p:cNvPr id="1" name=""/>
        <p:cNvGrpSpPr/>
        <p:nvPr/>
      </p:nvGrpSpPr>
      <p:grpSpPr>
        <a:xfrm>
          <a:off x="0" y="0"/>
          <a:ext cx="0" cy="0"/>
          <a:chOff x="0" y="0"/>
          <a:chExt cx="0" cy="0"/>
        </a:xfrm>
      </p:grpSpPr>
      <p:sp>
        <p:nvSpPr>
          <p:cNvPr name="TextBox 2" id="2"/>
          <p:cNvSpPr txBox="true"/>
          <p:nvPr/>
        </p:nvSpPr>
        <p:spPr>
          <a:xfrm rot="0">
            <a:off x="1616356" y="1091523"/>
            <a:ext cx="12897443" cy="3526496"/>
          </a:xfrm>
          <a:prstGeom prst="rect">
            <a:avLst/>
          </a:prstGeom>
        </p:spPr>
        <p:txBody>
          <a:bodyPr anchor="t" rtlCol="false" tIns="0" lIns="0" bIns="0" rIns="0">
            <a:spAutoFit/>
          </a:bodyPr>
          <a:lstStyle/>
          <a:p>
            <a:pPr algn="l">
              <a:lnSpc>
                <a:spcPts val="5861"/>
              </a:lnSpc>
              <a:spcBef>
                <a:spcPct val="0"/>
              </a:spcBef>
            </a:pPr>
            <a:r>
              <a:rPr lang="en-US" b="true" sz="4186">
                <a:solidFill>
                  <a:srgbClr val="000000"/>
                </a:solidFill>
                <a:latin typeface="Canva Sans Bold"/>
                <a:ea typeface="Canva Sans Bold"/>
                <a:cs typeface="Canva Sans Bold"/>
                <a:sym typeface="Canva Sans Bold"/>
              </a:rPr>
              <a:t>Conclusion</a:t>
            </a:r>
          </a:p>
          <a:p>
            <a:pPr algn="l">
              <a:lnSpc>
                <a:spcPts val="3182"/>
              </a:lnSpc>
              <a:spcBef>
                <a:spcPct val="0"/>
              </a:spcBef>
            </a:pPr>
            <a:r>
              <a:rPr lang="en-US" sz="2272">
                <a:solidFill>
                  <a:srgbClr val="000000"/>
                </a:solidFill>
                <a:latin typeface="Canva Sans"/>
                <a:ea typeface="Canva Sans"/>
                <a:cs typeface="Canva Sans"/>
                <a:sym typeface="Canva Sans"/>
              </a:rPr>
              <a:t>The project demonstrates how a structured UI/UX process can address real mental wellness challenges faced by college students and working professionals. Through research, surveys, and persona development, the key issues identified were stress, anxiety, overthinking, and inconsistent self-management habits. The final design presents a minimal, calming mobile app with AI-based mood tracking, personalized suggestions, journaling, and visual insights to help users build awareness and healthier routines. The solution aligns with user needs by focusing on simplicity, accessibility, and guided support.</a:t>
            </a:r>
          </a:p>
        </p:txBody>
      </p:sp>
      <p:sp>
        <p:nvSpPr>
          <p:cNvPr name="TextBox 3" id="3"/>
          <p:cNvSpPr txBox="true"/>
          <p:nvPr/>
        </p:nvSpPr>
        <p:spPr>
          <a:xfrm rot="0">
            <a:off x="1616356" y="5725789"/>
            <a:ext cx="14727777" cy="3112288"/>
          </a:xfrm>
          <a:prstGeom prst="rect">
            <a:avLst/>
          </a:prstGeom>
        </p:spPr>
        <p:txBody>
          <a:bodyPr anchor="t" rtlCol="false" tIns="0" lIns="0" bIns="0" rIns="0">
            <a:spAutoFit/>
          </a:bodyPr>
          <a:lstStyle/>
          <a:p>
            <a:pPr algn="l">
              <a:lnSpc>
                <a:spcPts val="5832"/>
              </a:lnSpc>
              <a:spcBef>
                <a:spcPct val="0"/>
              </a:spcBef>
            </a:pPr>
            <a:r>
              <a:rPr lang="en-US" b="true" sz="4165">
                <a:solidFill>
                  <a:srgbClr val="000000"/>
                </a:solidFill>
                <a:latin typeface="Canva Sans Bold"/>
                <a:ea typeface="Canva Sans Bold"/>
                <a:cs typeface="Canva Sans Bold"/>
                <a:sym typeface="Canva Sans Bold"/>
              </a:rPr>
              <a:t>Key Learnings</a:t>
            </a:r>
          </a:p>
          <a:p>
            <a:pPr algn="l">
              <a:lnSpc>
                <a:spcPts val="3166"/>
              </a:lnSpc>
              <a:spcBef>
                <a:spcPct val="0"/>
              </a:spcBef>
            </a:pPr>
            <a:r>
              <a:rPr lang="en-US" sz="2261">
                <a:solidFill>
                  <a:srgbClr val="000000"/>
                </a:solidFill>
                <a:latin typeface="Canva Sans"/>
                <a:ea typeface="Canva Sans"/>
                <a:cs typeface="Canva Sans"/>
                <a:sym typeface="Canva Sans"/>
              </a:rPr>
              <a:t>– Research insights are essential for validating user needs and shaping meaningful features.</a:t>
            </a:r>
          </a:p>
          <a:p>
            <a:pPr algn="l">
              <a:lnSpc>
                <a:spcPts val="3166"/>
              </a:lnSpc>
              <a:spcBef>
                <a:spcPct val="0"/>
              </a:spcBef>
            </a:pPr>
            <a:r>
              <a:rPr lang="en-US" sz="2261">
                <a:solidFill>
                  <a:srgbClr val="000000"/>
                </a:solidFill>
                <a:latin typeface="Canva Sans"/>
                <a:ea typeface="Canva Sans"/>
                <a:cs typeface="Canva Sans"/>
                <a:sym typeface="Canva Sans"/>
              </a:rPr>
              <a:t> – Students and professionals want quick, easy ways to track emotions without complex interactions.</a:t>
            </a:r>
          </a:p>
          <a:p>
            <a:pPr algn="l">
              <a:lnSpc>
                <a:spcPts val="3166"/>
              </a:lnSpc>
              <a:spcBef>
                <a:spcPct val="0"/>
              </a:spcBef>
            </a:pPr>
            <a:r>
              <a:rPr lang="en-US" sz="2261">
                <a:solidFill>
                  <a:srgbClr val="000000"/>
                </a:solidFill>
                <a:latin typeface="Canva Sans"/>
                <a:ea typeface="Canva Sans"/>
                <a:cs typeface="Canva Sans"/>
                <a:sym typeface="Canva Sans"/>
              </a:rPr>
              <a:t> – Visual clarity, color psychology, and minimal UI significantly influence user comfort in wellness products.</a:t>
            </a:r>
          </a:p>
          <a:p>
            <a:pPr algn="l">
              <a:lnSpc>
                <a:spcPts val="3166"/>
              </a:lnSpc>
              <a:spcBef>
                <a:spcPct val="0"/>
              </a:spcBef>
            </a:pPr>
            <a:r>
              <a:rPr lang="en-US" sz="2261">
                <a:solidFill>
                  <a:srgbClr val="000000"/>
                </a:solidFill>
                <a:latin typeface="Canva Sans"/>
                <a:ea typeface="Canva Sans"/>
                <a:cs typeface="Canva Sans"/>
                <a:sym typeface="Canva Sans"/>
              </a:rPr>
              <a:t> – AI-driven suggestions must remain simple, supportive, and non-intrusive to ensure trust.</a:t>
            </a:r>
          </a:p>
          <a:p>
            <a:pPr algn="l">
              <a:lnSpc>
                <a:spcPts val="3166"/>
              </a:lnSpc>
              <a:spcBef>
                <a:spcPct val="0"/>
              </a:spcBef>
            </a:pPr>
            <a:r>
              <a:rPr lang="en-US" sz="2261">
                <a:solidFill>
                  <a:srgbClr val="000000"/>
                </a:solidFill>
                <a:latin typeface="Canva Sans"/>
                <a:ea typeface="Canva Sans"/>
                <a:cs typeface="Canva Sans"/>
                <a:sym typeface="Canva Sans"/>
              </a:rPr>
              <a:t> – Usability testing highlights real navigation issues and helps refine the final experience.</a:t>
            </a:r>
          </a:p>
          <a:p>
            <a:pPr algn="l">
              <a:lnSpc>
                <a:spcPts val="3166"/>
              </a:lnSpc>
              <a:spcBef>
                <a:spcPct val="0"/>
              </a:spcBef>
            </a:pPr>
            <a:r>
              <a:rPr lang="en-US" sz="2261">
                <a:solidFill>
                  <a:srgbClr val="000000"/>
                </a:solidFill>
                <a:latin typeface="Canva Sans"/>
                <a:ea typeface="Canva Sans"/>
                <a:cs typeface="Canva Sans"/>
                <a:sym typeface="Canva Sans"/>
              </a:rPr>
              <a:t> – Designing for mental wellness requires balancing functionality with sensitivity and clarity.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DAG5Z82UYv4</dc:identifier>
  <dcterms:modified xsi:type="dcterms:W3CDTF">2011-08-01T06:04:30Z</dcterms:modified>
  <cp:revision>1</cp:revision>
  <dc:title>PRESENTATION</dc:title>
</cp:coreProperties>
</file>